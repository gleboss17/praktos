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-2214" y="-5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58B1B-6386-4C4C-A392-296C7D53A21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05E407E-1752-4F2A-AD31-3166371CBE5D}">
      <dgm:prSet/>
      <dgm:spPr/>
      <dgm:t>
        <a:bodyPr/>
        <a:lstStyle/>
        <a:p>
          <a:pPr algn="r" rtl="0"/>
          <a:r>
            <a:rPr lang="ru-RU" b="1" dirty="0" smtClean="0"/>
            <a:t>Инструмент анализа качества программы продуктов</a:t>
          </a:r>
          <a:endParaRPr lang="ru-RU" dirty="0"/>
        </a:p>
      </dgm:t>
    </dgm:pt>
    <dgm:pt modelId="{4E8D182A-9E62-49B1-9DE6-6F366B9B8716}" type="parTrans" cxnId="{BAB45486-009C-4394-B226-F449DA767C22}">
      <dgm:prSet/>
      <dgm:spPr/>
      <dgm:t>
        <a:bodyPr/>
        <a:lstStyle/>
        <a:p>
          <a:endParaRPr lang="ru-RU"/>
        </a:p>
      </dgm:t>
    </dgm:pt>
    <dgm:pt modelId="{A6DE9C2E-813A-435C-A8F6-F7EFF965F466}" type="sibTrans" cxnId="{BAB45486-009C-4394-B226-F449DA767C22}">
      <dgm:prSet/>
      <dgm:spPr/>
      <dgm:t>
        <a:bodyPr/>
        <a:lstStyle/>
        <a:p>
          <a:endParaRPr lang="ru-RU"/>
        </a:p>
      </dgm:t>
    </dgm:pt>
    <dgm:pt modelId="{C2A51FBD-BF1A-483E-8CEF-364AB426B4A7}" type="pres">
      <dgm:prSet presAssocID="{40C58B1B-6386-4C4C-A392-296C7D53A212}" presName="Name0" presStyleCnt="0">
        <dgm:presLayoutVars>
          <dgm:dir/>
          <dgm:resizeHandles val="exact"/>
        </dgm:presLayoutVars>
      </dgm:prSet>
      <dgm:spPr/>
    </dgm:pt>
    <dgm:pt modelId="{5FBA235D-91B0-4298-82B0-93DDAE51F476}" type="pres">
      <dgm:prSet presAssocID="{405E407E-1752-4F2A-AD31-3166371CBE5D}" presName="node" presStyleLbl="node1" presStyleIdx="0" presStyleCnt="1" custLinFactNeighborX="-190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CA57712-936A-4250-BEB9-D8A5FB8275A0}" type="presOf" srcId="{40C58B1B-6386-4C4C-A392-296C7D53A212}" destId="{C2A51FBD-BF1A-483E-8CEF-364AB426B4A7}" srcOrd="0" destOrd="0" presId="urn:microsoft.com/office/officeart/2005/8/layout/process1"/>
    <dgm:cxn modelId="{BAB45486-009C-4394-B226-F449DA767C22}" srcId="{40C58B1B-6386-4C4C-A392-296C7D53A212}" destId="{405E407E-1752-4F2A-AD31-3166371CBE5D}" srcOrd="0" destOrd="0" parTransId="{4E8D182A-9E62-49B1-9DE6-6F366B9B8716}" sibTransId="{A6DE9C2E-813A-435C-A8F6-F7EFF965F466}"/>
    <dgm:cxn modelId="{7A9C66EA-AD35-476E-B159-B650C0517332}" type="presOf" srcId="{405E407E-1752-4F2A-AD31-3166371CBE5D}" destId="{5FBA235D-91B0-4298-82B0-93DDAE51F476}" srcOrd="0" destOrd="0" presId="urn:microsoft.com/office/officeart/2005/8/layout/process1"/>
    <dgm:cxn modelId="{4EA3612C-82DF-4FA2-B955-BDB03CEB2161}" type="presParOf" srcId="{C2A51FBD-BF1A-483E-8CEF-364AB426B4A7}" destId="{5FBA235D-91B0-4298-82B0-93DDAE51F476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A235D-91B0-4298-82B0-93DDAE51F476}">
      <dsp:nvSpPr>
        <dsp:cNvPr id="0" name=""/>
        <dsp:cNvSpPr/>
      </dsp:nvSpPr>
      <dsp:spPr>
        <a:xfrm>
          <a:off x="0" y="0"/>
          <a:ext cx="7764809" cy="1829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1" kern="1200" dirty="0" smtClean="0"/>
            <a:t>Инструмент анализа качества программы продуктов</a:t>
          </a:r>
          <a:endParaRPr lang="ru-RU" sz="3900" kern="1200" dirty="0"/>
        </a:p>
      </dsp:txBody>
      <dsp:txXfrm>
        <a:off x="53592" y="53592"/>
        <a:ext cx="7657625" cy="1722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E7E5B-E46B-495F-837F-3079E5B0866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990CE-EB72-4354-89C2-71BB7367FA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4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9990CE-EB72-4354-89C2-71BB7367FAB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282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5CD587C-8360-40E5-8B2B-4916303B116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2B680AC-2D39-4CF8-BAB0-3D79C298993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-108520" y="2132856"/>
            <a:ext cx="7992888" cy="1728192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1856855386"/>
              </p:ext>
            </p:extLst>
          </p:nvPr>
        </p:nvGraphicFramePr>
        <p:xfrm>
          <a:off x="-108520" y="1772816"/>
          <a:ext cx="7772400" cy="1829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5517232"/>
            <a:ext cx="4388024" cy="1199704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Презентацию выполнили :</a:t>
            </a: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Петров Глеб </a:t>
            </a: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Петров Никита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26" name="Picture 2" descr="Восклицательный знак – Бесплатные иконки: образование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46555">
            <a:off x="6928770" y="534787"/>
            <a:ext cx="2966417" cy="257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Отладка – Бесплатные иконки: безопасность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89119">
            <a:off x="370590" y="185756"/>
            <a:ext cx="1437784" cy="1437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411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2915816" y="332655"/>
            <a:ext cx="6293680" cy="93610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97160" y="1772816"/>
            <a:ext cx="8229600" cy="4525963"/>
          </a:xfrm>
        </p:spPr>
        <p:txBody>
          <a:bodyPr/>
          <a:lstStyle/>
          <a:p>
            <a:r>
              <a:rPr lang="ru-RU" dirty="0"/>
              <a:t>Качество </a:t>
            </a:r>
            <a:r>
              <a:rPr lang="ru-RU" dirty="0" smtClean="0"/>
              <a:t>ПО — </a:t>
            </a:r>
            <a:r>
              <a:rPr lang="ru-RU" dirty="0"/>
              <a:t>это степень, с которой программный продукт соответствует заявленным или предполагаемым требованиям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23528" y="229207"/>
            <a:ext cx="8229600" cy="1143000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ru-RU" sz="3600" dirty="0" smtClean="0">
                <a:solidFill>
                  <a:schemeClr val="tx1"/>
                </a:solidFill>
                <a:effectLst/>
              </a:rPr>
              <a:t>Что такое качество ПО</a:t>
            </a:r>
            <a:r>
              <a:rPr lang="en-US" sz="3600" dirty="0" smtClean="0">
                <a:solidFill>
                  <a:schemeClr val="tx1"/>
                </a:solidFill>
                <a:effectLst/>
              </a:rPr>
              <a:t>?</a:t>
            </a:r>
            <a:endParaRPr lang="ru-RU" sz="3600" dirty="0">
              <a:solidFill>
                <a:schemeClr val="tx1"/>
              </a:solidFill>
              <a:effectLst/>
            </a:endParaRPr>
          </a:p>
        </p:txBody>
      </p:sp>
      <p:pic>
        <p:nvPicPr>
          <p:cNvPr id="2066" name="Picture 18" descr="Создать мем &quot;мем качок сидит за компьютером, мем скучно за компом, спит за  компом мем&quot; - Картинки - Meme-arsenal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645024"/>
            <a:ext cx="4867560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Наклейка Палец вверх PNG - AVATAN PLU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0537">
            <a:off x="-94950" y="-15545"/>
            <a:ext cx="1906017" cy="1632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14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2284896" y="332655"/>
            <a:ext cx="6840760" cy="93610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512" y="1614136"/>
            <a:ext cx="8946144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ru-RU" sz="2400" u="sng" dirty="0" smtClean="0"/>
              <a:t>Функциональность</a:t>
            </a:r>
            <a:r>
              <a:rPr lang="ru-RU" sz="2400" dirty="0" smtClean="0"/>
              <a:t> (Выполнение поставленных задач)</a:t>
            </a:r>
          </a:p>
          <a:p>
            <a:pPr>
              <a:buFont typeface="Wingdings" pitchFamily="2" charset="2"/>
              <a:buChar char="q"/>
            </a:pPr>
            <a:r>
              <a:rPr lang="ru-RU" sz="2400" u="sng" dirty="0" smtClean="0"/>
              <a:t>Надежность</a:t>
            </a:r>
            <a:r>
              <a:rPr lang="ru-RU" sz="2400" dirty="0" smtClean="0"/>
              <a:t> (Устойчивость к сбоям)</a:t>
            </a:r>
          </a:p>
          <a:p>
            <a:pPr>
              <a:buFont typeface="Wingdings" pitchFamily="2" charset="2"/>
              <a:buChar char="q"/>
            </a:pPr>
            <a:r>
              <a:rPr lang="ru-RU" sz="2400" u="sng" dirty="0" smtClean="0"/>
              <a:t>Совместимость</a:t>
            </a:r>
            <a:r>
              <a:rPr lang="ru-RU" sz="2400" dirty="0" smtClean="0"/>
              <a:t> (Работа в рамках системы)</a:t>
            </a:r>
          </a:p>
          <a:p>
            <a:pPr>
              <a:buFont typeface="Wingdings" pitchFamily="2" charset="2"/>
              <a:buChar char="q"/>
            </a:pPr>
            <a:r>
              <a:rPr lang="ru-RU" sz="2400" u="sng" dirty="0" smtClean="0"/>
              <a:t>Защищенность</a:t>
            </a:r>
            <a:r>
              <a:rPr lang="ru-RU" sz="2400" dirty="0" smtClean="0"/>
              <a:t> (Противостояние уязвимостям)</a:t>
            </a:r>
          </a:p>
          <a:p>
            <a:pPr>
              <a:buFont typeface="Wingdings" pitchFamily="2" charset="2"/>
              <a:buChar char="q"/>
            </a:pPr>
            <a:r>
              <a:rPr lang="ru-RU" sz="2400" u="sng" dirty="0" err="1" smtClean="0"/>
              <a:t>Сопровождаемость</a:t>
            </a:r>
            <a:r>
              <a:rPr lang="ru-RU" sz="2400" dirty="0" smtClean="0"/>
              <a:t> (Легкая корректировка кода)</a:t>
            </a:r>
            <a:endParaRPr lang="ru-RU" sz="24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339752" y="229207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tx1"/>
                </a:solidFill>
              </a:rPr>
              <a:t>Характеристики качества ПО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4" name="AutoShape 4" descr="Статья о программоном обеспечении, как правильно использовать и установить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Статья о программоном обеспечении, как правильно использовать и установить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8" descr="https://compro.by/for_blog_n08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10" descr="https://compro.by/for_blog_n08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12" descr="https://compro.by/for_blog_n08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14" descr="https://compro.by/for_blog_n08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16" descr="https://compro.by/for_blog_n08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18" descr="https://compro.by/for_blog_n08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20" descr="https://compro.by/for_blog_n08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AutoShape 22" descr="https://compro.by/for_blog_n08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AutoShape 24" descr="https://compro.by/for_blog_n08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AutoShape 26" descr="https://compro.by/for_blog_n08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7" name="AutoShape 28" descr="https://compro.by/for_blog_n08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6283">
            <a:off x="4695763" y="3942902"/>
            <a:ext cx="4337235" cy="272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3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323528" y="156563"/>
            <a:ext cx="8496944" cy="144016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512" y="2060848"/>
            <a:ext cx="4392488" cy="226215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109728" indent="0">
              <a:buNone/>
            </a:pPr>
            <a:r>
              <a:rPr lang="ru-RU" u="sng" dirty="0" smtClean="0"/>
              <a:t>Статический анализ</a:t>
            </a:r>
          </a:p>
          <a:p>
            <a:pPr marL="109728" indent="0">
              <a:buNone/>
            </a:pPr>
            <a:r>
              <a:rPr lang="ru-RU" sz="2400" dirty="0"/>
              <a:t>А</a:t>
            </a:r>
            <a:r>
              <a:rPr lang="ru-RU" sz="2400" dirty="0" smtClean="0"/>
              <a:t>нализ кода без его выполнения для выявления ошибок и нарушения стиля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902075" y="305143"/>
            <a:ext cx="7344816" cy="114300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chemeClr val="tx1"/>
                </a:solidFill>
                <a:effectLst/>
              </a:rPr>
              <a:t>Классификация инструментов</a:t>
            </a:r>
            <a:br>
              <a:rPr lang="ru-RU" sz="3200" dirty="0" smtClean="0">
                <a:solidFill>
                  <a:schemeClr val="tx1"/>
                </a:solidFill>
                <a:effectLst/>
              </a:rPr>
            </a:br>
            <a:r>
              <a:rPr lang="ru-RU" sz="3200" dirty="0" smtClean="0">
                <a:solidFill>
                  <a:schemeClr val="tx1"/>
                </a:solidFill>
                <a:effectLst/>
              </a:rPr>
              <a:t> анализа качества</a:t>
            </a:r>
            <a:endParaRPr lang="ru-RU" sz="3200" dirty="0">
              <a:solidFill>
                <a:schemeClr val="tx1"/>
              </a:solidFill>
              <a:effectLst/>
            </a:endParaRPr>
          </a:p>
        </p:txBody>
      </p:sp>
      <p:pic>
        <p:nvPicPr>
          <p:cNvPr id="4098" name="Picture 2" descr="Python – Бесплатные иконки: логотип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00304">
            <a:off x="7510495" y="5204979"/>
            <a:ext cx="1472793" cy="147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Джава – Бесплатные иконки: логоти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20185">
            <a:off x="5755526" y="5093928"/>
            <a:ext cx="1666759" cy="166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788024" y="2060848"/>
            <a:ext cx="4248472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sz="2700" u="sng" dirty="0" smtClean="0"/>
              <a:t>Динамический анализ </a:t>
            </a:r>
            <a:r>
              <a:rPr lang="ru-RU" sz="2400" dirty="0" err="1" smtClean="0"/>
              <a:t>Анализ</a:t>
            </a:r>
            <a:r>
              <a:rPr lang="ru-RU" sz="2400" dirty="0" smtClean="0"/>
              <a:t> кода во время выполнения, включая профилирование и тестирование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117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359532" y="7245424"/>
            <a:ext cx="8424936" cy="2664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979712" y="116632"/>
            <a:ext cx="8352928" cy="93610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Заголовок 2"/>
          <p:cNvSpPr>
            <a:spLocks noGrp="1"/>
          </p:cNvSpPr>
          <p:nvPr>
            <p:ph type="title"/>
          </p:nvPr>
        </p:nvSpPr>
        <p:spPr>
          <a:xfrm>
            <a:off x="1403648" y="-1051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chemeClr val="tx1"/>
                </a:solidFill>
                <a:effectLst/>
              </a:rPr>
              <a:t>Метрики качества кода</a:t>
            </a:r>
            <a:endParaRPr lang="ru-RU" sz="3200" dirty="0">
              <a:solidFill>
                <a:schemeClr val="tx1"/>
              </a:solidFill>
              <a:effectLst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11560" y="2708920"/>
            <a:ext cx="2376264" cy="10801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Базовые </a:t>
            </a:r>
          </a:p>
          <a:p>
            <a:pPr algn="ctr"/>
            <a:r>
              <a:rPr lang="ru-RU" dirty="0" smtClean="0"/>
              <a:t>метрики</a:t>
            </a:r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081084" y="2636912"/>
            <a:ext cx="2376264" cy="115212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Практические</a:t>
            </a:r>
          </a:p>
          <a:p>
            <a:pPr algn="ctr"/>
            <a:r>
              <a:rPr lang="ru-RU" dirty="0" smtClean="0"/>
              <a:t>метрики</a:t>
            </a:r>
            <a:endParaRPr lang="ru-RU" dirty="0"/>
          </a:p>
        </p:txBody>
      </p:sp>
      <p:sp>
        <p:nvSpPr>
          <p:cNvPr id="14" name="Овал 13"/>
          <p:cNvSpPr/>
          <p:nvPr/>
        </p:nvSpPr>
        <p:spPr>
          <a:xfrm>
            <a:off x="3563888" y="1340768"/>
            <a:ext cx="2016224" cy="72008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Метрики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2" name="Соединительная линия уступом 21"/>
          <p:cNvCxnSpPr>
            <a:stCxn id="14" idx="2"/>
            <a:endCxn id="11" idx="0"/>
          </p:cNvCxnSpPr>
          <p:nvPr/>
        </p:nvCxnSpPr>
        <p:spPr>
          <a:xfrm rot="10800000" flipV="1">
            <a:off x="1799692" y="1700808"/>
            <a:ext cx="1764196" cy="100811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Соединительная линия уступом 23"/>
          <p:cNvCxnSpPr>
            <a:stCxn id="14" idx="6"/>
            <a:endCxn id="12" idx="0"/>
          </p:cNvCxnSpPr>
          <p:nvPr/>
        </p:nvCxnSpPr>
        <p:spPr>
          <a:xfrm>
            <a:off x="5580112" y="1700808"/>
            <a:ext cx="1689104" cy="936104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89627" y="3933055"/>
            <a:ext cx="5184323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 smtClean="0"/>
              <a:t>Базовые метрики — это количественные показатели, которые используются для оценки эффективности и прогресса в бизнесе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3092752" y="5301208"/>
            <a:ext cx="5976664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 smtClean="0"/>
              <a:t>Практические метрики — это </a:t>
            </a:r>
            <a:r>
              <a:rPr lang="ru-RU" dirty="0"/>
              <a:t>измеримые</a:t>
            </a:r>
            <a:r>
              <a:rPr lang="ru-RU" b="1" dirty="0"/>
              <a:t> </a:t>
            </a:r>
            <a:r>
              <a:rPr lang="ru-RU" dirty="0"/>
              <a:t>количественные показатели, используемые для оценки </a:t>
            </a:r>
            <a:r>
              <a:rPr lang="ru-RU" dirty="0" smtClean="0"/>
              <a:t>эффективности и прогресса бизнес-процессов.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673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DE - Concor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08777">
            <a:off x="5940701" y="1245474"/>
            <a:ext cx="2388545" cy="238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539552" y="229870"/>
            <a:ext cx="8352928" cy="122413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1598022"/>
            <a:ext cx="8229600" cy="4525963"/>
          </a:xfrm>
        </p:spPr>
        <p:txBody>
          <a:bodyPr/>
          <a:lstStyle/>
          <a:p>
            <a:r>
              <a:rPr lang="ru-RU" dirty="0" smtClean="0"/>
              <a:t>Встроенные средства </a:t>
            </a:r>
            <a:r>
              <a:rPr lang="en-US" dirty="0" smtClean="0"/>
              <a:t>IDE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pPr marL="109728" indent="0">
              <a:buNone/>
            </a:pPr>
            <a:endParaRPr lang="ru-RU" dirty="0" smtClean="0"/>
          </a:p>
          <a:p>
            <a:r>
              <a:rPr lang="ru-RU" dirty="0" smtClean="0"/>
              <a:t>Непрерывная интеграция </a:t>
            </a:r>
            <a:r>
              <a:rPr lang="en-US" dirty="0" smtClean="0"/>
              <a:t>(CI)</a:t>
            </a:r>
            <a:r>
              <a:rPr lang="ru-RU" dirty="0" smtClean="0"/>
              <a:t>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957898" y="409890"/>
            <a:ext cx="7941568" cy="864096"/>
          </a:xfrm>
        </p:spPr>
        <p:txBody>
          <a:bodyPr>
            <a:noAutofit/>
          </a:bodyPr>
          <a:lstStyle/>
          <a:p>
            <a:r>
              <a:rPr lang="ru-RU" sz="3200" dirty="0" smtClean="0"/>
              <a:t>Интеграция инструментов в процесс разработки 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399289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09728" indent="0">
              <a:buNone/>
            </a:pPr>
            <a:r>
              <a:rPr lang="ru-RU" dirty="0"/>
              <a:t>Автоматическое выполнение анализа качества и </a:t>
            </a:r>
            <a:r>
              <a:rPr lang="ru-RU" dirty="0" smtClean="0"/>
              <a:t>тестов при </a:t>
            </a:r>
            <a:r>
              <a:rPr lang="ru-RU" dirty="0"/>
              <a:t>каждом </a:t>
            </a:r>
            <a:r>
              <a:rPr lang="ru-RU" dirty="0" err="1" smtClean="0"/>
              <a:t>коммите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215724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Современные среды разработки предлагают анализ кода в реальном времени</a:t>
            </a:r>
            <a:endParaRPr lang="ru-RU" dirty="0"/>
          </a:p>
        </p:txBody>
      </p:sp>
      <p:pic>
        <p:nvPicPr>
          <p:cNvPr id="5124" name="Picture 4" descr="Си – Бесплатные иконки: формы и символы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78591">
            <a:off x="6625981" y="3878969"/>
            <a:ext cx="1753033" cy="175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79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619672" y="260648"/>
            <a:ext cx="8352928" cy="122413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35696" y="332656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Автоматизация процесса анализа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1800915"/>
            <a:ext cx="65162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Автоматизация</a:t>
            </a:r>
            <a:r>
              <a:rPr lang="ru-RU" dirty="0" smtClean="0"/>
              <a:t> — ключ к поддержанию качества в быстро развивающихся проектах</a:t>
            </a:r>
            <a:endParaRPr lang="ru-RU" dirty="0"/>
          </a:p>
        </p:txBody>
      </p:sp>
      <p:pic>
        <p:nvPicPr>
          <p:cNvPr id="7170" name="Picture 2" descr="Автоматизация – Бесплатные иконки: u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0823">
            <a:off x="7089070" y="1601308"/>
            <a:ext cx="1635677" cy="1635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642848" y="3933056"/>
            <a:ext cx="2592288" cy="7920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Интеграция с </a:t>
            </a:r>
            <a:r>
              <a:rPr lang="en-US" dirty="0" smtClean="0"/>
              <a:t>CI/CD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42848" y="5002187"/>
            <a:ext cx="2592288" cy="7920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Отчеты и </a:t>
            </a:r>
            <a:r>
              <a:rPr lang="ru-RU" dirty="0" err="1" smtClean="0"/>
              <a:t>дашборды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42848" y="2852936"/>
            <a:ext cx="2592288" cy="7920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Pre-commit </a:t>
            </a:r>
            <a:r>
              <a:rPr lang="ru-RU" dirty="0" smtClean="0"/>
              <a:t>хуки</a:t>
            </a:r>
            <a:endParaRPr lang="ru-RU" dirty="0"/>
          </a:p>
        </p:txBody>
      </p:sp>
      <p:cxnSp>
        <p:nvCxnSpPr>
          <p:cNvPr id="10" name="Прямая соединительная линия 9"/>
          <p:cNvCxnSpPr>
            <a:stCxn id="9" idx="2"/>
            <a:endCxn id="6" idx="0"/>
          </p:cNvCxnSpPr>
          <p:nvPr/>
        </p:nvCxnSpPr>
        <p:spPr>
          <a:xfrm>
            <a:off x="1938992" y="364502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1959846" y="4725144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647105" y="473049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ru-RU" dirty="0" smtClean="0">
                <a:solidFill>
                  <a:srgbClr val="FF0000"/>
                </a:solidFill>
              </a:rPr>
              <a:t>Автоматизация</a:t>
            </a:r>
            <a:r>
              <a:rPr lang="ru-RU" dirty="0" smtClean="0"/>
              <a:t> позволяет интегрировать проверки непосредственно в рабочий процесс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7614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Тестовые случаи – Бесплатные иконки: поисковая оптимизация и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49252">
            <a:off x="186625" y="-37723"/>
            <a:ext cx="1934928" cy="193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2292334" y="281669"/>
            <a:ext cx="8352928" cy="12961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525963"/>
          </a:xfrm>
        </p:spPr>
        <p:txBody>
          <a:bodyPr>
            <a:normAutofit/>
          </a:bodyPr>
          <a:lstStyle/>
          <a:p>
            <a:r>
              <a:rPr lang="ru-RU" dirty="0"/>
              <a:t>Пример улучшения </a:t>
            </a:r>
            <a:r>
              <a:rPr lang="ru-RU" dirty="0" smtClean="0"/>
              <a:t>качества:</a:t>
            </a:r>
          </a:p>
          <a:p>
            <a:pPr marL="109728" indent="0">
              <a:buNone/>
            </a:pPr>
            <a:r>
              <a:rPr lang="ru-RU" dirty="0"/>
              <a:t> </a:t>
            </a:r>
            <a:r>
              <a:rPr lang="ru-RU" dirty="0" smtClean="0"/>
              <a:t>   </a:t>
            </a:r>
            <a:r>
              <a:rPr lang="ru-RU" sz="2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На </a:t>
            </a:r>
            <a:r>
              <a:rPr lang="ru-RU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крупном проекте с </a:t>
            </a:r>
            <a:r>
              <a:rPr lang="ru-RU" sz="2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легаси</a:t>
            </a:r>
            <a:r>
              <a:rPr lang="ru-RU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-кодом внедрение </a:t>
            </a:r>
            <a:r>
              <a:rPr lang="ru-RU" sz="2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SonarQubeи</a:t>
            </a:r>
            <a:r>
              <a:rPr lang="ru-RU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обязательного 80% покрытия тестами привело к следующим результатам: с</a:t>
            </a:r>
            <a:r>
              <a:rPr lang="ru-RU" sz="2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нижение </a:t>
            </a:r>
            <a:r>
              <a:rPr lang="ru-RU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количества критических багов в </a:t>
            </a:r>
            <a:r>
              <a:rPr lang="ru-RU" sz="2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продакшене</a:t>
            </a:r>
            <a:r>
              <a:rPr lang="ru-RU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на 45% за </a:t>
            </a:r>
            <a:r>
              <a:rPr lang="ru-RU" sz="23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полгода, уменьшение </a:t>
            </a:r>
            <a:r>
              <a:rPr lang="ru-RU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средней цикломатической сложности на 15% благодаря </a:t>
            </a:r>
            <a:r>
              <a:rPr lang="ru-RU" sz="2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рефакторингу</a:t>
            </a:r>
            <a:r>
              <a:rPr lang="ru-RU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411760" y="348619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tx1"/>
                </a:solidFill>
                <a:effectLst/>
              </a:rPr>
              <a:t>Кейсы применения в реальных проектах</a:t>
            </a:r>
          </a:p>
        </p:txBody>
      </p:sp>
    </p:spTree>
    <p:extLst>
      <p:ext uri="{BB962C8B-B14F-4D97-AF65-F5344CB8AC3E}">
        <p14:creationId xmlns:p14="http://schemas.microsoft.com/office/powerpoint/2010/main" val="38423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59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137</TotalTime>
  <Words>219</Words>
  <Application>Microsoft Office PowerPoint</Application>
  <PresentationFormat>Экран (4:3)</PresentationFormat>
  <Paragraphs>42</Paragraphs>
  <Slides>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Открытая</vt:lpstr>
      <vt:lpstr>Презентация PowerPoint</vt:lpstr>
      <vt:lpstr>Что такое качество ПО?</vt:lpstr>
      <vt:lpstr>Характеристики качества ПО</vt:lpstr>
      <vt:lpstr>Классификация инструментов  анализа качества</vt:lpstr>
      <vt:lpstr>Метрики качества кода</vt:lpstr>
      <vt:lpstr>Интеграция инструментов в процесс разработки </vt:lpstr>
      <vt:lpstr>Автоматизация процесса анализа</vt:lpstr>
      <vt:lpstr>Кейсы применения в реальных проектах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as41</dc:creator>
  <cp:lastModifiedBy>as41</cp:lastModifiedBy>
  <cp:revision>14</cp:revision>
  <dcterms:created xsi:type="dcterms:W3CDTF">2025-11-27T09:51:24Z</dcterms:created>
  <dcterms:modified xsi:type="dcterms:W3CDTF">2025-11-27T12:09:04Z</dcterms:modified>
</cp:coreProperties>
</file>