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7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73800" y="1524000"/>
            <a:ext cx="7543800" cy="19050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4400" b="1" i="0">
                <a:solidFill>
                  <a:srgbClr val="F98AC7"/>
                </a:solidFill>
                <a:latin typeface="Lora"/>
              </a:defRPr>
            </a:pPr>
            <a:r>
              <a:t>Диагностика игровых устройств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3800" y="3937000"/>
            <a:ext cx="7543800" cy="180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D6E5EF"/>
                </a:solidFill>
                <a:latin typeface="Source Sans Pro"/>
              </a:defRPr>
            </a:pPr>
            <a:r>
              <a:t>Процесс выявления и локализации неисправностей в игровых консолях, компьютерах и периферийных устройствах. Включает в себя анализ симптомов, тестирование компонентов и использование специализированных инструментов для точного определения причины сбоя.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7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330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3429000"/>
            <a:ext cx="13106400" cy="12700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4400" b="1" i="0">
                <a:solidFill>
                  <a:srgbClr val="F98AC7"/>
                </a:solidFill>
                <a:latin typeface="Lora"/>
              </a:defRPr>
            </a:pPr>
            <a:r>
              <a:t>Распространенные поломки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5080000"/>
            <a:ext cx="6426200" cy="2413000"/>
          </a:xfrm>
          <a:prstGeom prst="roundRect">
            <a:avLst>
              <a:gd name="adj" fmla="val 3000"/>
            </a:avLst>
          </a:prstGeom>
          <a:solidFill>
            <a:srgbClr val="444652"/>
          </a:solidFill>
          <a:ln w="12700">
            <a:solidFill>
              <a:srgbClr val="5D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42200" y="5080000"/>
            <a:ext cx="6426200" cy="2413000"/>
          </a:xfrm>
          <a:prstGeom prst="roundRect">
            <a:avLst>
              <a:gd name="adj" fmla="val 3000"/>
            </a:avLst>
          </a:prstGeom>
          <a:solidFill>
            <a:srgbClr val="444652"/>
          </a:solidFill>
          <a:ln w="12700">
            <a:solidFill>
              <a:srgbClr val="5D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9000" y="5334000"/>
            <a:ext cx="62992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D6E5EF"/>
                </a:solidFill>
                <a:latin typeface="Lora"/>
              </a:defRPr>
            </a:pPr>
            <a:r>
              <a:t>Перегрев и питание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000" y="5842000"/>
            <a:ext cx="62992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D6E5EF"/>
                </a:solidFill>
                <a:latin typeface="Source Sans Pro"/>
              </a:defRPr>
            </a:pPr>
            <a:r>
              <a:t>Частые проблемы включают перегрев из-за пыли в системе охлаждения или отказа вентиляторов, а также сбои в питании, например, на PlayStation 4 при длительных игровых сессиях.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9200" y="5334000"/>
            <a:ext cx="62992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D6E5EF"/>
                </a:solidFill>
                <a:latin typeface="Lora"/>
              </a:defRPr>
            </a:pPr>
            <a:r>
              <a:t>Аппаратные и программные сбои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9200" y="5842000"/>
            <a:ext cx="62992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D6E5EF"/>
                </a:solidFill>
                <a:latin typeface="Source Sans Pro"/>
              </a:defRPr>
            </a:pPr>
            <a:r>
              <a:t>Аппаратные сбои проявляются в повреждении дисковода, выходе из строя жесткого диска или неисправности видеочипа, тогда как программные ошибки включают зависания и ошибки при загрузке игр, такие как CE-34878-0 на PS4.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000" y="977900"/>
            <a:ext cx="127000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 i="0">
                <a:solidFill>
                  <a:srgbClr val="F98AC7"/>
                </a:solidFill>
                <a:latin typeface="Lora"/>
              </a:defRPr>
            </a:pPr>
            <a:r>
              <a:t>Инструменты для диагностики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9500" y="4502150"/>
            <a:ext cx="12992100" cy="12700"/>
          </a:xfrm>
          <a:prstGeom prst="roundRect">
            <a:avLst>
              <a:gd name="adj" fmla="val 50000"/>
            </a:avLst>
          </a:prstGeom>
          <a:solidFill>
            <a:srgbClr val="5D6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46550" y="4038600"/>
            <a:ext cx="12700" cy="317500"/>
          </a:xfrm>
          <a:prstGeom prst="roundRect">
            <a:avLst>
              <a:gd name="adj" fmla="val 50000"/>
            </a:avLst>
          </a:prstGeom>
          <a:solidFill>
            <a:srgbClr val="5D6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34250" y="4660900"/>
            <a:ext cx="12700" cy="317500"/>
          </a:xfrm>
          <a:prstGeom prst="roundRect">
            <a:avLst>
              <a:gd name="adj" fmla="val 50000"/>
            </a:avLst>
          </a:prstGeom>
          <a:solidFill>
            <a:srgbClr val="5D6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9250" y="4038600"/>
            <a:ext cx="12700" cy="317500"/>
          </a:xfrm>
          <a:prstGeom prst="roundRect">
            <a:avLst>
              <a:gd name="adj" fmla="val 50000"/>
            </a:avLst>
          </a:prstGeom>
          <a:solidFill>
            <a:srgbClr val="5D6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37000" y="4292600"/>
            <a:ext cx="431800" cy="431800"/>
          </a:xfrm>
          <a:prstGeom prst="roundRect">
            <a:avLst>
              <a:gd name="adj" fmla="val 3000"/>
            </a:avLst>
          </a:prstGeom>
          <a:solidFill>
            <a:srgbClr val="444652"/>
          </a:solidFill>
          <a:ln w="12700">
            <a:solidFill>
              <a:srgbClr val="444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24700" y="4292600"/>
            <a:ext cx="431800" cy="431800"/>
          </a:xfrm>
          <a:prstGeom prst="roundRect">
            <a:avLst>
              <a:gd name="adj" fmla="val 3000"/>
            </a:avLst>
          </a:prstGeom>
          <a:solidFill>
            <a:srgbClr val="444652"/>
          </a:solidFill>
          <a:ln w="12700">
            <a:solidFill>
              <a:srgbClr val="444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299700" y="4292600"/>
            <a:ext cx="431800" cy="431800"/>
          </a:xfrm>
          <a:prstGeom prst="roundRect">
            <a:avLst>
              <a:gd name="adj" fmla="val 3000"/>
            </a:avLst>
          </a:prstGeom>
          <a:solidFill>
            <a:srgbClr val="444652"/>
          </a:solidFill>
          <a:ln w="12700">
            <a:solidFill>
              <a:srgbClr val="444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1400" y="2095500"/>
            <a:ext cx="6083300" cy="43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D6E5EF"/>
                </a:solidFill>
                <a:latin typeface="Lora"/>
              </a:defRPr>
            </a:pPr>
            <a:r>
              <a:t>Программное обеспечение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1400" y="2730500"/>
            <a:ext cx="60833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 i="0">
                <a:solidFill>
                  <a:srgbClr val="D6E5EF"/>
                </a:solidFill>
                <a:latin typeface="Source Sans Pro"/>
              </a:defRPr>
            </a:pPr>
            <a:r>
              <a:t>Специализированные программы, такие как AIDA64 или HWMonitor, проверяют состояние компонентов, показывая температуры и загрузку CPU/GPU.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900" y="4381500"/>
            <a:ext cx="254000" cy="254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67200" y="5207000"/>
            <a:ext cx="6083300" cy="43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D6E5EF"/>
                </a:solidFill>
                <a:latin typeface="Lora"/>
              </a:defRPr>
            </a:pPr>
            <a:r>
              <a:t>Аппаратные инструменты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7200" y="5727700"/>
            <a:ext cx="60833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 i="0">
                <a:solidFill>
                  <a:srgbClr val="D6E5EF"/>
                </a:solidFill>
                <a:latin typeface="Source Sans Pro"/>
              </a:defRPr>
            </a:pPr>
            <a:r>
              <a:t>Мультиметры и осциллографы необходимы для проверки цепей питания и сигналов на материнской плате, измеряя напряжение на разъемах.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600" y="4381500"/>
            <a:ext cx="254000" cy="25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05700" y="2120900"/>
            <a:ext cx="6083300" cy="43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D6E5EF"/>
                </a:solidFill>
                <a:latin typeface="Lora"/>
              </a:defRPr>
            </a:pPr>
            <a:r>
              <a:t>Тестовые устройства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5700" y="2730500"/>
            <a:ext cx="60833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 i="0">
                <a:solidFill>
                  <a:srgbClr val="D6E5EF"/>
                </a:solidFill>
                <a:latin typeface="Source Sans Pro"/>
              </a:defRPr>
            </a:pPr>
            <a:r>
              <a:t>Использование заведомо исправных приставок и программных эмуляторов помогает сравнить состояние и проверить совместимость программного обеспечения.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8600" y="4381500"/>
            <a:ext cx="2540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7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330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3429000"/>
            <a:ext cx="13106400" cy="12700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4400" b="1" i="0">
                <a:solidFill>
                  <a:srgbClr val="F98AC7"/>
                </a:solidFill>
                <a:latin typeface="Lora"/>
              </a:defRPr>
            </a:pPr>
            <a:r>
              <a:t>Этапы диагностики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5080000"/>
            <a:ext cx="6426200" cy="2413000"/>
          </a:xfrm>
          <a:prstGeom prst="roundRect">
            <a:avLst>
              <a:gd name="adj" fmla="val 3000"/>
            </a:avLst>
          </a:prstGeom>
          <a:solidFill>
            <a:srgbClr val="444652"/>
          </a:solidFill>
          <a:ln w="12700">
            <a:solidFill>
              <a:srgbClr val="5D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42200" y="5080000"/>
            <a:ext cx="6426200" cy="2413000"/>
          </a:xfrm>
          <a:prstGeom prst="roundRect">
            <a:avLst>
              <a:gd name="adj" fmla="val 3000"/>
            </a:avLst>
          </a:prstGeom>
          <a:solidFill>
            <a:srgbClr val="444652"/>
          </a:solidFill>
          <a:ln w="12700">
            <a:solidFill>
              <a:srgbClr val="5D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9000" y="5334000"/>
            <a:ext cx="62992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D6E5EF"/>
                </a:solidFill>
                <a:latin typeface="Lora"/>
              </a:defRPr>
            </a:pPr>
            <a:r>
              <a:t>Первичный осмотр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000" y="5842000"/>
            <a:ext cx="62992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D6E5EF"/>
                </a:solidFill>
                <a:latin typeface="Source Sans Pro"/>
              </a:defRPr>
            </a:pPr>
            <a:r>
              <a:t>Визуальная проверка корпуса, материнской платы и компонентов на наличие физических повреждений, следов перегрева, залитий жидкостью или вздувшихся конденсаторов.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9200" y="5334000"/>
            <a:ext cx="62992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D6E5EF"/>
                </a:solidFill>
                <a:latin typeface="Lora"/>
              </a:defRPr>
            </a:pPr>
            <a:r>
              <a:t>Сбор информации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9200" y="5842000"/>
            <a:ext cx="62992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D6E5EF"/>
                </a:solidFill>
                <a:latin typeface="Source Sans Pro"/>
              </a:defRPr>
            </a:pPr>
            <a:r>
              <a:t>Опрос пользователя о характере проблемы, времени ее возникновения и предшествующих действиях, а также фиксация всех появляющихся кодов ошибок для дальнейшего анализа.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270000"/>
            <a:ext cx="1270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 i="0">
                <a:solidFill>
                  <a:srgbClr val="F98AC7"/>
                </a:solidFill>
                <a:latin typeface="Lora"/>
              </a:defRPr>
            </a:pPr>
            <a:r>
              <a:t>Диагностика питания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200" y="2540000"/>
            <a:ext cx="4318000" cy="431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200" y="2540000"/>
            <a:ext cx="4318000" cy="431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200" y="2540000"/>
            <a:ext cx="4318000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3556000"/>
            <a:ext cx="4064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2200" b="1" i="0">
                <a:solidFill>
                  <a:srgbClr val="D6E5EF"/>
                </a:solidFill>
                <a:latin typeface="Lora"/>
              </a:defRPr>
            </a:pPr>
            <a:r>
              <a:t>Блок питания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4000500"/>
            <a:ext cx="3810000" cy="2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800" b="0" i="0">
                <a:solidFill>
                  <a:srgbClr val="D6E5EF"/>
                </a:solidFill>
                <a:latin typeface="Source Sans Pro"/>
              </a:defRPr>
            </a:pPr>
            <a:r>
              <a:t>Измерение выходных напряжений мультиметром для соответствия спецификациям: +12V, +5V, +3.3V.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4508500"/>
            <a:ext cx="355600" cy="355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04400" y="2794000"/>
            <a:ext cx="4445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D6E5EF"/>
                </a:solidFill>
                <a:latin typeface="Lora"/>
              </a:defRPr>
            </a:pPr>
            <a:r>
              <a:t>Разъемы и цепи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04400" y="3238500"/>
            <a:ext cx="381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D6E5EF"/>
                </a:solidFill>
                <a:latin typeface="Source Sans Pro"/>
              </a:defRPr>
            </a:pPr>
            <a:r>
              <a:t>Проверка контактов на материнской плате и блоке питания на окисление; поиск коротких замыканий или обрывов на плате.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5600" y="3302000"/>
            <a:ext cx="355600" cy="355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04400" y="4953000"/>
            <a:ext cx="4445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D6E5EF"/>
                </a:solidFill>
                <a:latin typeface="Lora"/>
              </a:defRPr>
            </a:pPr>
            <a:r>
              <a:t>Тепловизор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04400" y="5397500"/>
            <a:ext cx="381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D6E5EF"/>
                </a:solidFill>
                <a:latin typeface="Source Sans Pro"/>
              </a:defRPr>
            </a:pPr>
            <a:r>
              <a:t>Использование тепловизора для выявления перегревающихся компонентов в цепях питания на материнской плате.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0" y="5816600"/>
            <a:ext cx="355600" cy="355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2000" y="7239000"/>
            <a:ext cx="127000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D6E5EF"/>
                </a:solidFill>
                <a:latin typeface="Source Sans Pro"/>
              </a:defRPr>
            </a:pPr>
            <a:r>
              <a:t>Нестабильное напряжение или его отсутствие часто приводит к полному отказу устройства или его некорректной работе.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7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330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3556000"/>
            <a:ext cx="12700000" cy="12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 i="0">
                <a:solidFill>
                  <a:srgbClr val="F98AC7"/>
                </a:solidFill>
                <a:latin typeface="Lora"/>
              </a:defRPr>
            </a:pPr>
            <a:r>
              <a:t>Диагностика изображения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3150" y="4508500"/>
            <a:ext cx="12700" cy="3302000"/>
          </a:xfrm>
          <a:prstGeom prst="roundRect">
            <a:avLst>
              <a:gd name="adj" fmla="val 50000"/>
            </a:avLst>
          </a:prstGeom>
          <a:solidFill>
            <a:srgbClr val="5D6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9000" y="4762500"/>
            <a:ext cx="381000" cy="381000"/>
          </a:xfrm>
          <a:prstGeom prst="roundRect">
            <a:avLst>
              <a:gd name="adj" fmla="val 3000"/>
            </a:avLst>
          </a:prstGeom>
          <a:solidFill>
            <a:srgbClr val="444652"/>
          </a:solidFill>
          <a:ln w="12700">
            <a:solidFill>
              <a:srgbClr val="5D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9000" y="4508500"/>
            <a:ext cx="381000" cy="381000"/>
          </a:xfrm>
          <a:prstGeom prst="rect">
            <a:avLst/>
          </a:prstGeom>
          <a:noFill/>
        </p:spPr>
        <p:txBody>
          <a:bodyPr wrap="none" anchor="t" tIns="0" bIns="0" lIns="0" rIns="0">
            <a:spAutoFit/>
          </a:bodyPr>
          <a:lstStyle/>
          <a:p/>
          <a:p>
            <a:pPr algn="ctr">
              <a:defRPr sz="2300">
                <a:solidFill>
                  <a:srgbClr val="D6E5EF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70000" y="4946650"/>
            <a:ext cx="317500" cy="12700"/>
          </a:xfrm>
          <a:prstGeom prst="roundRect">
            <a:avLst>
              <a:gd name="adj" fmla="val 50000"/>
            </a:avLst>
          </a:prstGeom>
          <a:solidFill>
            <a:srgbClr val="5D6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9000" y="5969000"/>
            <a:ext cx="381000" cy="381000"/>
          </a:xfrm>
          <a:prstGeom prst="roundRect">
            <a:avLst>
              <a:gd name="adj" fmla="val 3000"/>
            </a:avLst>
          </a:prstGeom>
          <a:solidFill>
            <a:srgbClr val="444652"/>
          </a:solidFill>
          <a:ln w="12700">
            <a:solidFill>
              <a:srgbClr val="5D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9000" y="5702300"/>
            <a:ext cx="381000" cy="381000"/>
          </a:xfrm>
          <a:prstGeom prst="rect">
            <a:avLst/>
          </a:prstGeom>
          <a:noFill/>
        </p:spPr>
        <p:txBody>
          <a:bodyPr wrap="none" anchor="t" tIns="0" bIns="0" lIns="0" rIns="0">
            <a:spAutoFit/>
          </a:bodyPr>
          <a:lstStyle/>
          <a:p/>
          <a:p>
            <a:pPr algn="ctr">
              <a:defRPr sz="2300">
                <a:solidFill>
                  <a:srgbClr val="D6E5EF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70000" y="6153150"/>
            <a:ext cx="317500" cy="12700"/>
          </a:xfrm>
          <a:prstGeom prst="roundRect">
            <a:avLst>
              <a:gd name="adj" fmla="val 50000"/>
            </a:avLst>
          </a:prstGeom>
          <a:solidFill>
            <a:srgbClr val="5D6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89000" y="7239000"/>
            <a:ext cx="381000" cy="381000"/>
          </a:xfrm>
          <a:prstGeom prst="roundRect">
            <a:avLst>
              <a:gd name="adj" fmla="val 3000"/>
            </a:avLst>
          </a:prstGeom>
          <a:solidFill>
            <a:srgbClr val="444652"/>
          </a:solidFill>
          <a:ln w="12700">
            <a:solidFill>
              <a:srgbClr val="5D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9000" y="6972300"/>
            <a:ext cx="381000" cy="381000"/>
          </a:xfrm>
          <a:prstGeom prst="rect">
            <a:avLst/>
          </a:prstGeom>
          <a:noFill/>
        </p:spPr>
        <p:txBody>
          <a:bodyPr wrap="none" anchor="t" tIns="0" bIns="0" lIns="0" rIns="0">
            <a:spAutoFit/>
          </a:bodyPr>
          <a:lstStyle/>
          <a:p/>
          <a:p>
            <a:pPr algn="ctr">
              <a:defRPr sz="2300">
                <a:solidFill>
                  <a:srgbClr val="D6E5EF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70000" y="7423150"/>
            <a:ext cx="317500" cy="12700"/>
          </a:xfrm>
          <a:prstGeom prst="roundRect">
            <a:avLst>
              <a:gd name="adj" fmla="val 50000"/>
            </a:avLst>
          </a:prstGeom>
          <a:solidFill>
            <a:srgbClr val="5D6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05000" y="4508500"/>
            <a:ext cx="12700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D6E5EF"/>
                </a:solidFill>
                <a:latin typeface="Lora"/>
              </a:defRPr>
            </a:pPr>
            <a:r>
              <a:t>Кабели и разъемы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4889500"/>
            <a:ext cx="1270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D6E5EF"/>
                </a:solidFill>
                <a:latin typeface="Source Sans Pro"/>
              </a:defRPr>
            </a:pPr>
            <a:r>
              <a:t>Проверка кабелей HDMI/DisplayPort и самих разъемов на наличие повреждений и правильность подключения; использование другого кабеля.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5778500"/>
            <a:ext cx="12700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D6E5EF"/>
                </a:solidFill>
                <a:latin typeface="Lora"/>
              </a:defRPr>
            </a:pPr>
            <a:r>
              <a:t>Видеовыход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6159500"/>
            <a:ext cx="1270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D6E5EF"/>
                </a:solidFill>
                <a:latin typeface="Source Sans Pro"/>
              </a:defRPr>
            </a:pPr>
            <a:r>
              <a:t>Подключение к другому монитору или телевизору для исключения проблемы с самим устройством вывода изображения.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5000" y="7048500"/>
            <a:ext cx="12700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D6E5EF"/>
                </a:solidFill>
                <a:latin typeface="Lora"/>
              </a:defRPr>
            </a:pPr>
            <a:r>
              <a:t>Видеокарта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7429500"/>
            <a:ext cx="1270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D6E5EF"/>
                </a:solidFill>
                <a:latin typeface="Source Sans Pro"/>
              </a:defRPr>
            </a:pPr>
            <a:r>
              <a:t>Диагностика видеокарты: проверка температур, артефактов изображения, зависаний; проведение стресс-тестов для ПК.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905000"/>
            <a:ext cx="1270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 i="0">
                <a:solidFill>
                  <a:srgbClr val="F98AC7"/>
                </a:solidFill>
                <a:latin typeface="Lora"/>
              </a:defRPr>
            </a:pPr>
            <a:r>
              <a:t>Диагностика звука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6000" y="3048000"/>
            <a:ext cx="431800" cy="431800"/>
          </a:xfrm>
          <a:prstGeom prst="roundRect">
            <a:avLst>
              <a:gd name="adj" fmla="val 3000"/>
            </a:avLst>
          </a:prstGeom>
          <a:solidFill>
            <a:srgbClr val="444652"/>
          </a:solidFill>
          <a:ln w="12700">
            <a:solidFill>
              <a:srgbClr val="444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24000" y="3009900"/>
            <a:ext cx="11430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D6E5EF"/>
                </a:solidFill>
                <a:latin typeface="Lora"/>
              </a:defRPr>
            </a:pPr>
            <a:r>
              <a:t>Аудиовыходы и разъемы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0" y="3429000"/>
            <a:ext cx="1143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D6E5EF"/>
                </a:solidFill>
                <a:latin typeface="Source Sans Pro"/>
              </a:defRPr>
            </a:pPr>
            <a:r>
              <a:t>Визуальная проверка аудиовыходов и разъемов на наличие повреждений или засорений; подключение внешних наушников или колонок для тестирования.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250" y="3143250"/>
            <a:ext cx="254000" cy="254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16000" y="5143500"/>
            <a:ext cx="431800" cy="431800"/>
          </a:xfrm>
          <a:prstGeom prst="roundRect">
            <a:avLst>
              <a:gd name="adj" fmla="val 3000"/>
            </a:avLst>
          </a:prstGeom>
          <a:solidFill>
            <a:srgbClr val="444652"/>
          </a:solidFill>
          <a:ln w="12700">
            <a:solidFill>
              <a:srgbClr val="444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24000" y="5105400"/>
            <a:ext cx="11430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D6E5EF"/>
                </a:solidFill>
                <a:latin typeface="Lora"/>
              </a:defRPr>
            </a:pPr>
            <a:r>
              <a:t>Программное обеспечение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" y="5524500"/>
            <a:ext cx="1143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D6E5EF"/>
                </a:solidFill>
                <a:latin typeface="Source Sans Pro"/>
              </a:defRPr>
            </a:pPr>
            <a:r>
              <a:t>Проверка настроек звука в операционной системе и игровых приложениях; обновление аудиодрайверов; подтверждение выбора правильного аудиовыхода.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250" y="5238750"/>
            <a:ext cx="2540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7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330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3556000"/>
            <a:ext cx="12700000" cy="12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 i="0">
                <a:solidFill>
                  <a:srgbClr val="F98AC7"/>
                </a:solidFill>
                <a:latin typeface="Lora"/>
              </a:defRPr>
            </a:pPr>
            <a:r>
              <a:t>Диагностика ввода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3150" y="4508500"/>
            <a:ext cx="12700" cy="3302000"/>
          </a:xfrm>
          <a:prstGeom prst="roundRect">
            <a:avLst>
              <a:gd name="adj" fmla="val 50000"/>
            </a:avLst>
          </a:prstGeom>
          <a:solidFill>
            <a:srgbClr val="5D6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9000" y="4762500"/>
            <a:ext cx="381000" cy="381000"/>
          </a:xfrm>
          <a:prstGeom prst="roundRect">
            <a:avLst>
              <a:gd name="adj" fmla="val 3000"/>
            </a:avLst>
          </a:prstGeom>
          <a:solidFill>
            <a:srgbClr val="444652"/>
          </a:solidFill>
          <a:ln w="12700">
            <a:solidFill>
              <a:srgbClr val="5D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9000" y="4508500"/>
            <a:ext cx="381000" cy="381000"/>
          </a:xfrm>
          <a:prstGeom prst="rect">
            <a:avLst/>
          </a:prstGeom>
          <a:noFill/>
        </p:spPr>
        <p:txBody>
          <a:bodyPr wrap="none" anchor="t" tIns="0" bIns="0" lIns="0" rIns="0">
            <a:spAutoFit/>
          </a:bodyPr>
          <a:lstStyle/>
          <a:p/>
          <a:p>
            <a:pPr algn="ctr">
              <a:defRPr sz="2300">
                <a:solidFill>
                  <a:srgbClr val="D6E5EF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70000" y="4946650"/>
            <a:ext cx="317500" cy="12700"/>
          </a:xfrm>
          <a:prstGeom prst="roundRect">
            <a:avLst>
              <a:gd name="adj" fmla="val 50000"/>
            </a:avLst>
          </a:prstGeom>
          <a:solidFill>
            <a:srgbClr val="5D6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9000" y="5969000"/>
            <a:ext cx="381000" cy="381000"/>
          </a:xfrm>
          <a:prstGeom prst="roundRect">
            <a:avLst>
              <a:gd name="adj" fmla="val 3000"/>
            </a:avLst>
          </a:prstGeom>
          <a:solidFill>
            <a:srgbClr val="444652"/>
          </a:solidFill>
          <a:ln w="12700">
            <a:solidFill>
              <a:srgbClr val="5D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9000" y="5702300"/>
            <a:ext cx="381000" cy="381000"/>
          </a:xfrm>
          <a:prstGeom prst="rect">
            <a:avLst/>
          </a:prstGeom>
          <a:noFill/>
        </p:spPr>
        <p:txBody>
          <a:bodyPr wrap="none" anchor="t" tIns="0" bIns="0" lIns="0" rIns="0">
            <a:spAutoFit/>
          </a:bodyPr>
          <a:lstStyle/>
          <a:p/>
          <a:p>
            <a:pPr algn="ctr">
              <a:defRPr sz="2300">
                <a:solidFill>
                  <a:srgbClr val="D6E5EF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70000" y="6153150"/>
            <a:ext cx="317500" cy="12700"/>
          </a:xfrm>
          <a:prstGeom prst="roundRect">
            <a:avLst>
              <a:gd name="adj" fmla="val 50000"/>
            </a:avLst>
          </a:prstGeom>
          <a:solidFill>
            <a:srgbClr val="5D6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89000" y="7239000"/>
            <a:ext cx="381000" cy="381000"/>
          </a:xfrm>
          <a:prstGeom prst="roundRect">
            <a:avLst>
              <a:gd name="adj" fmla="val 3000"/>
            </a:avLst>
          </a:prstGeom>
          <a:solidFill>
            <a:srgbClr val="444652"/>
          </a:solidFill>
          <a:ln w="12700">
            <a:solidFill>
              <a:srgbClr val="5D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9000" y="6972300"/>
            <a:ext cx="381000" cy="381000"/>
          </a:xfrm>
          <a:prstGeom prst="rect">
            <a:avLst/>
          </a:prstGeom>
          <a:noFill/>
        </p:spPr>
        <p:txBody>
          <a:bodyPr wrap="none" anchor="t" tIns="0" bIns="0" lIns="0" rIns="0">
            <a:spAutoFit/>
          </a:bodyPr>
          <a:lstStyle/>
          <a:p/>
          <a:p>
            <a:pPr algn="ctr">
              <a:defRPr sz="2300">
                <a:solidFill>
                  <a:srgbClr val="D6E5EF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70000" y="7423150"/>
            <a:ext cx="317500" cy="12700"/>
          </a:xfrm>
          <a:prstGeom prst="roundRect">
            <a:avLst>
              <a:gd name="adj" fmla="val 50000"/>
            </a:avLst>
          </a:prstGeom>
          <a:solidFill>
            <a:srgbClr val="5D6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05000" y="4508500"/>
            <a:ext cx="12700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D6E5EF"/>
                </a:solidFill>
                <a:latin typeface="Lora"/>
              </a:defRPr>
            </a:pPr>
            <a:r>
              <a:t>Геймпады и контроллеры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4889500"/>
            <a:ext cx="1270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D6E5EF"/>
                </a:solidFill>
                <a:latin typeface="Source Sans Pro"/>
              </a:defRPr>
            </a:pPr>
            <a:r>
              <a:t>Тестирование кнопок, стиков и триггеров; использование утилит для калибровки и проверки работоспособности.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5778500"/>
            <a:ext cx="12700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D6E5EF"/>
                </a:solidFill>
                <a:latin typeface="Lora"/>
              </a:defRPr>
            </a:pPr>
            <a:r>
              <a:t>USB-порты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6159500"/>
            <a:ext cx="1270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D6E5EF"/>
                </a:solidFill>
                <a:latin typeface="Source Sans Pro"/>
              </a:defRPr>
            </a:pPr>
            <a:r>
              <a:t>Проверка работоспособности USB-портов; замена кабелей подключения; тестирование контроллера в других портах.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5000" y="7048500"/>
            <a:ext cx="12700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D6E5EF"/>
                </a:solidFill>
                <a:latin typeface="Lora"/>
              </a:defRPr>
            </a:pPr>
            <a:r>
              <a:t>Беспроводные соединения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7429500"/>
            <a:ext cx="1270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D6E5EF"/>
                </a:solidFill>
                <a:latin typeface="Source Sans Pro"/>
              </a:defRPr>
            </a:pPr>
            <a:r>
              <a:t>Проверка Bluetooth/Wi-Fi модуля, устранение помех, проверка состояния батареи контроллера; переподключение или сброс настроек.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7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254000"/>
            <a:ext cx="8128000" cy="21209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4400" b="1" i="0">
                <a:solidFill>
                  <a:srgbClr val="F98AC7"/>
                </a:solidFill>
                <a:latin typeface="Lora"/>
              </a:defRPr>
            </a:pPr>
            <a:r>
              <a:t>Типичные неисправности и ремонт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3150" y="2984500"/>
            <a:ext cx="12700" cy="3302000"/>
          </a:xfrm>
          <a:prstGeom prst="roundRect">
            <a:avLst>
              <a:gd name="adj" fmla="val 50000"/>
            </a:avLst>
          </a:prstGeom>
          <a:solidFill>
            <a:srgbClr val="5D6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9000" y="3175000"/>
            <a:ext cx="381000" cy="381000"/>
          </a:xfrm>
          <a:prstGeom prst="roundRect">
            <a:avLst>
              <a:gd name="adj" fmla="val 3000"/>
            </a:avLst>
          </a:prstGeom>
          <a:solidFill>
            <a:srgbClr val="444652"/>
          </a:solidFill>
          <a:ln w="12700">
            <a:solidFill>
              <a:srgbClr val="5D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9000" y="2921000"/>
            <a:ext cx="381000" cy="381000"/>
          </a:xfrm>
          <a:prstGeom prst="rect">
            <a:avLst/>
          </a:prstGeom>
          <a:noFill/>
        </p:spPr>
        <p:txBody>
          <a:bodyPr wrap="none" anchor="t" tIns="0" bIns="0" lIns="0" rIns="0">
            <a:spAutoFit/>
          </a:bodyPr>
          <a:lstStyle/>
          <a:p/>
          <a:p>
            <a:pPr algn="ctr">
              <a:defRPr sz="2300">
                <a:solidFill>
                  <a:srgbClr val="D6E5EF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70000" y="3359150"/>
            <a:ext cx="317500" cy="12700"/>
          </a:xfrm>
          <a:prstGeom prst="roundRect">
            <a:avLst>
              <a:gd name="adj" fmla="val 50000"/>
            </a:avLst>
          </a:prstGeom>
          <a:solidFill>
            <a:srgbClr val="5D6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9000" y="4445000"/>
            <a:ext cx="381000" cy="381000"/>
          </a:xfrm>
          <a:prstGeom prst="roundRect">
            <a:avLst>
              <a:gd name="adj" fmla="val 3000"/>
            </a:avLst>
          </a:prstGeom>
          <a:solidFill>
            <a:srgbClr val="444652"/>
          </a:solidFill>
          <a:ln w="12700">
            <a:solidFill>
              <a:srgbClr val="5D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9000" y="4178300"/>
            <a:ext cx="381000" cy="381000"/>
          </a:xfrm>
          <a:prstGeom prst="rect">
            <a:avLst/>
          </a:prstGeom>
          <a:noFill/>
        </p:spPr>
        <p:txBody>
          <a:bodyPr wrap="none" anchor="t" tIns="0" bIns="0" lIns="0" rIns="0">
            <a:spAutoFit/>
          </a:bodyPr>
          <a:lstStyle/>
          <a:p/>
          <a:p>
            <a:pPr algn="ctr">
              <a:defRPr sz="2300">
                <a:solidFill>
                  <a:srgbClr val="D6E5EF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70000" y="4629150"/>
            <a:ext cx="317500" cy="12700"/>
          </a:xfrm>
          <a:prstGeom prst="roundRect">
            <a:avLst>
              <a:gd name="adj" fmla="val 50000"/>
            </a:avLst>
          </a:prstGeom>
          <a:solidFill>
            <a:srgbClr val="5D6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89000" y="5715000"/>
            <a:ext cx="381000" cy="381000"/>
          </a:xfrm>
          <a:prstGeom prst="roundRect">
            <a:avLst>
              <a:gd name="adj" fmla="val 3000"/>
            </a:avLst>
          </a:prstGeom>
          <a:solidFill>
            <a:srgbClr val="444652"/>
          </a:solidFill>
          <a:ln w="12700">
            <a:solidFill>
              <a:srgbClr val="5D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9000" y="5448300"/>
            <a:ext cx="381000" cy="381000"/>
          </a:xfrm>
          <a:prstGeom prst="rect">
            <a:avLst/>
          </a:prstGeom>
          <a:noFill/>
        </p:spPr>
        <p:txBody>
          <a:bodyPr wrap="none" anchor="t" tIns="0" bIns="0" lIns="0" rIns="0">
            <a:spAutoFit/>
          </a:bodyPr>
          <a:lstStyle/>
          <a:p/>
          <a:p>
            <a:pPr algn="ctr">
              <a:defRPr sz="2300">
                <a:solidFill>
                  <a:srgbClr val="D6E5EF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70000" y="5899150"/>
            <a:ext cx="317500" cy="12700"/>
          </a:xfrm>
          <a:prstGeom prst="roundRect">
            <a:avLst>
              <a:gd name="adj" fmla="val 50000"/>
            </a:avLst>
          </a:prstGeom>
          <a:solidFill>
            <a:srgbClr val="5D6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05000" y="2984500"/>
            <a:ext cx="6985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D6E5EF"/>
                </a:solidFill>
                <a:latin typeface="Lora"/>
              </a:defRPr>
            </a:pPr>
            <a:r>
              <a:t>Перегрев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3365500"/>
            <a:ext cx="6985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D6E5EF"/>
                </a:solidFill>
                <a:latin typeface="Source Sans Pro"/>
              </a:defRPr>
            </a:pPr>
            <a:r>
              <a:t>Замена термопасты на процессоре и видеокарте игровых консолей и ПК для восстановления теплоотвода.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4254500"/>
            <a:ext cx="6985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D6E5EF"/>
                </a:solidFill>
                <a:latin typeface="Lora"/>
              </a:defRPr>
            </a:pPr>
            <a:r>
              <a:t>Питание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4635500"/>
            <a:ext cx="6985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D6E5EF"/>
                </a:solidFill>
                <a:latin typeface="Source Sans Pro"/>
              </a:defRPr>
            </a:pPr>
            <a:r>
              <a:t>Ремонт или замена внутреннего или внешнего блока питания при обнаружении проблем с подачей электроэнергии.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5000" y="5524500"/>
            <a:ext cx="6985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D6E5EF"/>
                </a:solidFill>
                <a:latin typeface="Lora"/>
              </a:defRPr>
            </a:pPr>
            <a:r>
              <a:t>Компоненты платы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5905500"/>
            <a:ext cx="6985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D6E5EF"/>
                </a:solidFill>
                <a:latin typeface="Source Sans Pro"/>
              </a:defRPr>
            </a:pPr>
            <a:r>
              <a:t>Пайка или замена неисправных компонентов на материнской плате, таких как конденсаторы или микросхемы.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7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524000"/>
            <a:ext cx="7543800" cy="19050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4400" b="1" i="0">
                <a:solidFill>
                  <a:srgbClr val="F98AC7"/>
                </a:solidFill>
                <a:latin typeface="Lora"/>
              </a:defRPr>
            </a:pPr>
            <a:r>
              <a:t>Предотвращение неисправностей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937000"/>
            <a:ext cx="7543800" cy="180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D6E5EF"/>
                </a:solidFill>
                <a:latin typeface="Source Sans Pro"/>
              </a:defRPr>
            </a:pPr>
            <a:r>
              <a:t>Регулярная чистка системы охлаждения от пыли и обеспечение адекватной вентиляции устройства являются ключевыми мерами для предотвращения перегрева. Правильное размещение техники вдали от источников влаги и прямых солнечных лучей, а также использование стабилизаторов напряжения для защиты от перепадов в электросети, значительно продлевают срок службы игровых устройств.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